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faculty and peers. Welcome to my presentation on 'Student Performance Prediction Using Machine Learning' for the subject Fundamentals of Artificial Intelligence. In this project, we develop and evaluate a production-ready machine learning framework leveraging the Random Forest algorithm to proactively identify students in need of academic support while enforcing strict data leakage prevention protocols.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discuss the motivation. Educational failure carries severe personal and institutional costs. By the time final semester marks are calculated, it is too late to help a struggling student. Our goal is to leverage supervised machine learning to detect risk during early diagnostic checkpoints and pair those predictions with targeted remedial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define the mathematical problem formulation and our strict data leakage prevention protocol. In academic literature, many amateur student prediction models trivially achieve 95% accuracy by including second-period grades or near-final test scores. We explicitly isolate G2 and G3 to ensure our model solves a realistic early-warning problem using only information available early in the academic calendar.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outlines our five core objectives. We emphasize not just training a model in isolation, but engineering an end-to-end software artifact that includes reproducible pipelines, empirical evaluation on unseen data, a modern user dashboard, and responsible AI guardrails.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feature taxonomy. We categorize the 24 retained features into 4 distinct domains: academic diagnostics, attendance, family socio-economics, and lifestyle factors. This multi-dimensional approach ensures that our Random Forest model captures holistic influences on student success rather than relying purely on examination scores.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our end-to-end architecture. The data flows sequentially from ingestion, target derivation, and leakage isolation, through scikit-learn ColumnTransformer preprocessing, into stratified train-test splits, Random Forest model training, and finally into our interactive Streamlit web dashboard for real-time inference.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explains the Random Forest algorithm. Developed by Leo Breiman, Random Forest combines two core randomization techniques: bootstrap bagging and random feature subsampling. By building 100 de-correlated trees, the ensemble averages out individual errors, producing reliable probabilistic predictions that capture non-linear relationships in educational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highlights our web interface. Built with Streamlit, the dashboard provides a modern academic theme with 5 dedicated sections. Crucially, the web application caches the serialized model using st.cache_resource, guaranteeing that inferences execute instantaneously without re-running model training on page refresh.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actual empirical results. On the held-out test set of 79 students, our Random Forest achieves 67.09% accuracy and a Macro F1 score of 0.685, substantially outperforming the majority class baseline of 41.77%. Crucially, the model shows strong precision of 82.6% on high-performing students and effectively flags over 57% of at-risk students before final exams.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highlights feature importances alongside our baseline comparison. G1 diagnostic scores, prior failures, and absences emerge as the three most informative predictors. Social and lifestyle variables like social outings and parental education also contribute meaningfully, confirming the multi-factorial nature of student academic trajectory.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ethics and limitations. Deploying machine learning in education requires tremendous ethical responsibility. We emphasize human-in-the-loop governance: algorithms must support teachers, never replace human judgment or make automated punitive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demonstrates the practical application of supervised ensemble learning to educational data mining. By combining leak-free engineering with Random Forest classification and a modern Streamlit interface, we provide educators with an accessible tool for early academic risk identification. Thank you very much!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10058400" cy="4114800"/>
          </a:xfrm>
          <a:prstGeom prst="rect">
            <a:avLst/>
          </a:prstGeom>
          <a:noFill/>
        </p:spPr>
        <p:txBody>
          <a:bodyPr wrap="square">
            <a:spAutoFit/>
          </a:bodyPr>
          <a:lstStyle/>
          <a:p>
            <a:pPr>
              <a:defRPr sz="1400" b="1">
                <a:solidFill>
                  <a:srgbClr val="BFDBFE"/>
                </a:solidFill>
              </a:defRPr>
            </a:pPr>
            <a:r>
              <a:t>FUNDAMENTALS OF ARTIFICIAL INTELLIGENCE | TERM PROJECT</a:t>
            </a:r>
          </a:p>
          <a:p>
            <a:pPr>
              <a:spcBef>
                <a:spcPts val="1400"/>
              </a:spcBef>
              <a:defRPr sz="3600" b="1">
                <a:solidFill>
                  <a:srgbClr val="FFFFFF"/>
                </a:solidFill>
              </a:defRPr>
            </a:pPr>
            <a:r>
              <a:t>Student Performance Prediction Using Machine Learning</a:t>
            </a:r>
          </a:p>
          <a:p>
            <a:pPr>
              <a:spcBef>
                <a:spcPts val="1000"/>
              </a:spcBef>
              <a:defRPr sz="1800">
                <a:solidFill>
                  <a:srgbClr val="E0E7FF"/>
                </a:solidFill>
              </a:defRPr>
            </a:pPr>
            <a:r>
              <a:t>A Supervised Random Forest Classification Framework for Early Academic Intervention</a:t>
            </a:r>
          </a:p>
          <a:p>
            <a:pPr>
              <a:spcBef>
                <a:spcPts val="3200"/>
              </a:spcBef>
              <a:defRPr sz="1300">
                <a:solidFill>
                  <a:srgbClr val="CBD5E1"/>
                </a:solidFill>
              </a:defRPr>
            </a:pPr>
            <a:r>
              <a:t>Student Details: [Student Name Placeholder] | Roll No: [Roll Number Placeholder]</a:t>
            </a:r>
            <a:br/>
            <a:r>
              <a:t>Course: Fundamentals of Artificial Intelligence | Faculty: [Faculty Name Placeholder]</a:t>
            </a:r>
            <a:br/>
            <a:r>
              <a:t>Institution: [College / University Name Placeholder] | 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Introduction &amp; Academic Motivation</a:t>
            </a:r>
          </a:p>
        </p:txBody>
      </p:sp>
      <p:sp>
        <p:nvSpPr>
          <p:cNvPr id="3" name="Rounded Rectangle 2"/>
          <p:cNvSpPr/>
          <p:nvPr/>
        </p:nvSpPr>
        <p:spPr>
          <a:xfrm>
            <a:off x="731520" y="1645920"/>
            <a:ext cx="5120640" cy="45720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800" b="1">
                <a:solidFill>
                  <a:srgbClr val="1E3A8A"/>
                </a:solidFill>
              </a:defRPr>
            </a:pPr>
            <a:r>
              <a:t>The Educational Challenge</a:t>
            </a:r>
          </a:p>
          <a:p>
            <a:pPr>
              <a:spcBef>
                <a:spcPts val="1200"/>
              </a:spcBef>
              <a:defRPr sz="1300">
                <a:solidFill>
                  <a:srgbClr val="0F172A"/>
                </a:solidFill>
              </a:defRPr>
            </a:pPr>
            <a:r>
              <a:t>• Traditional academic monitoring is reactive: students are identified as failing only after final exams.</a:t>
            </a:r>
          </a:p>
          <a:p>
            <a:pPr>
              <a:spcBef>
                <a:spcPts val="1200"/>
              </a:spcBef>
              <a:defRPr sz="1300">
                <a:solidFill>
                  <a:srgbClr val="0F172A"/>
                </a:solidFill>
              </a:defRPr>
            </a:pPr>
            <a:r>
              <a:t>• Late remediation is ineffective and often leads to course repetition or student dropout.</a:t>
            </a:r>
          </a:p>
          <a:p>
            <a:pPr>
              <a:spcBef>
                <a:spcPts val="1200"/>
              </a:spcBef>
              <a:defRPr sz="1300">
                <a:solidFill>
                  <a:srgbClr val="0F172A"/>
                </a:solidFill>
              </a:defRPr>
            </a:pPr>
            <a:r>
              <a:t>• Institutions gather rich multifaceted data (attendance, habits, family background) that remain underutilized.</a:t>
            </a:r>
          </a:p>
          <a:p>
            <a:pPr>
              <a:spcBef>
                <a:spcPts val="1200"/>
              </a:spcBef>
              <a:defRPr sz="1300">
                <a:solidFill>
                  <a:srgbClr val="0F172A"/>
                </a:solidFill>
              </a:defRPr>
            </a:pPr>
            <a:r>
              <a:t>• Artificial Intelligence can synthesize complex non-linear patterns to enable proactive early-stage interventions.</a:t>
            </a:r>
          </a:p>
        </p:txBody>
      </p:sp>
      <p:sp>
        <p:nvSpPr>
          <p:cNvPr id="4" name="Rounded Rectangle 3"/>
          <p:cNvSpPr/>
          <p:nvPr/>
        </p:nvSpPr>
        <p:spPr>
          <a:xfrm>
            <a:off x="6309360" y="1645920"/>
            <a:ext cx="5120640" cy="45720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800" b="1">
                <a:solidFill>
                  <a:srgbClr val="2563EB"/>
                </a:solidFill>
              </a:defRPr>
            </a:pPr>
            <a:r>
              <a:t>The AI Solution Opportunity</a:t>
            </a:r>
          </a:p>
          <a:p>
            <a:pPr>
              <a:spcBef>
                <a:spcPts val="1200"/>
              </a:spcBef>
              <a:defRPr sz="1300">
                <a:solidFill>
                  <a:srgbClr val="0F172A"/>
                </a:solidFill>
              </a:defRPr>
            </a:pPr>
            <a:r>
              <a:t>• Supervised Learning: Formulate academic performance prediction as a multi-tier classification task.</a:t>
            </a:r>
          </a:p>
          <a:p>
            <a:pPr>
              <a:spcBef>
                <a:spcPts val="1200"/>
              </a:spcBef>
              <a:defRPr sz="1300">
                <a:solidFill>
                  <a:srgbClr val="0F172A"/>
                </a:solidFill>
              </a:defRPr>
            </a:pPr>
            <a:r>
              <a:t>• Diagnostic Window: Predict final performance tiers before semester progression using early diagnostics (G1).</a:t>
            </a:r>
          </a:p>
          <a:p>
            <a:pPr>
              <a:spcBef>
                <a:spcPts val="1200"/>
              </a:spcBef>
              <a:defRPr sz="1300">
                <a:solidFill>
                  <a:srgbClr val="0F172A"/>
                </a:solidFill>
              </a:defRPr>
            </a:pPr>
            <a:r>
              <a:t>• Decision Support: Empower educators with probability calibrated risk scores rather than blunt labels.</a:t>
            </a:r>
          </a:p>
          <a:p>
            <a:pPr>
              <a:spcBef>
                <a:spcPts val="1200"/>
              </a:spcBef>
              <a:defRPr sz="1300">
                <a:solidFill>
                  <a:srgbClr val="0F172A"/>
                </a:solidFill>
              </a:defRPr>
            </a:pPr>
            <a:r>
              <a:t>• Pedagogical Feedback: Generate tailored recommendations targeting individual study habits and attendance.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Problem Statement &amp; Leakage Protection Protocol</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b="1">
                <a:solidFill>
                  <a:srgbClr val="1E3A8A"/>
                </a:solidFill>
              </a:defRPr>
            </a:pPr>
            <a:r>
              <a:t>Formal Problem Formulation:</a:t>
            </a:r>
          </a:p>
          <a:p>
            <a:pPr>
              <a:spcBef>
                <a:spcPts val="600"/>
              </a:spcBef>
              <a:defRPr sz="1400">
                <a:solidFill>
                  <a:srgbClr val="0F172A"/>
                </a:solidFill>
              </a:defRPr>
            </a:pPr>
            <a:r>
              <a:t>Given a feature vector X containing 24 socio-demographic, behavioral, and baseline assessment factors, learn a hypothesis function f(X) -&gt; Y that classifies the student into one of three academic tiers:</a:t>
            </a:r>
          </a:p>
          <a:p>
            <a:pPr>
              <a:spcBef>
                <a:spcPts val="600"/>
              </a:spcBef>
              <a:defRPr sz="1300" b="1">
                <a:solidFill>
                  <a:srgbClr val="2563EB"/>
                </a:solidFill>
              </a:defRPr>
            </a:pPr>
            <a:r>
              <a:t>   • Low (At-Risk): Final grade G3 &lt; 10 (official Portuguese secondary failure threshold)</a:t>
            </a:r>
          </a:p>
          <a:p>
            <a:pPr>
              <a:spcBef>
                <a:spcPts val="600"/>
              </a:spcBef>
              <a:defRPr sz="1300" b="1">
                <a:solidFill>
                  <a:srgbClr val="2563EB"/>
                </a:solidFill>
              </a:defRPr>
            </a:pPr>
            <a:r>
              <a:t>   • Medium (Satisfactory): Final grade 10 &lt;= G3 &lt; 14 (sufficient core competency)</a:t>
            </a:r>
          </a:p>
          <a:p>
            <a:pPr>
              <a:spcBef>
                <a:spcPts val="600"/>
              </a:spcBef>
              <a:defRPr sz="1300" b="1">
                <a:solidFill>
                  <a:srgbClr val="2563EB"/>
                </a:solidFill>
              </a:defRPr>
            </a:pPr>
            <a:r>
              <a:t>   • High (Good / Distinction): Final grade 14 &lt;= G3 &lt;= 20 (academic excellence)</a:t>
            </a:r>
          </a:p>
          <a:p>
            <a:pPr>
              <a:spcBef>
                <a:spcPts val="2000"/>
              </a:spcBef>
              <a:defRPr sz="1800" b="1">
                <a:solidFill>
                  <a:srgbClr val="B91C1C"/>
                </a:solidFill>
              </a:defRPr>
            </a:pPr>
            <a:r>
              <a:t>Critical Data Leakage Prevention Protocol:</a:t>
            </a:r>
          </a:p>
          <a:p>
            <a:pPr>
              <a:spcBef>
                <a:spcPts val="600"/>
              </a:spcBef>
              <a:defRPr sz="1300">
                <a:solidFill>
                  <a:srgbClr val="0F172A"/>
                </a:solidFill>
              </a:defRPr>
            </a:pPr>
            <a:r>
              <a:t>   • Direct Target Leakage: Target Y is derived from G3. Therefore, G3 is strictly excluded from feature matrix X.</a:t>
            </a:r>
          </a:p>
          <a:p>
            <a:pPr>
              <a:spcBef>
                <a:spcPts val="600"/>
              </a:spcBef>
              <a:defRPr sz="1300">
                <a:solidFill>
                  <a:srgbClr val="0F172A"/>
                </a:solidFill>
              </a:defRPr>
            </a:pPr>
            <a:r>
              <a:t>   • Late-Stage Proxy Leakage: Second-period grade G2 has a 0.90 correlation with G3. Including G2 trivially reveals the outcome and destroys real-world early intervention utility. G2 is strictly excluded.</a:t>
            </a:r>
          </a:p>
          <a:p>
            <a:pPr>
              <a:spcBef>
                <a:spcPts val="600"/>
              </a:spcBef>
              <a:defRPr sz="1300">
                <a:solidFill>
                  <a:srgbClr val="0F172A"/>
                </a:solidFill>
              </a:defRPr>
            </a:pPr>
            <a:r>
              <a:t>   • Early Diagnostic Feature: G1 represents the early formative assessment conducted in Period 1 and is retained to establish a realistic diagnostic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Project Objectives &amp; Research Scope</a:t>
            </a:r>
          </a:p>
        </p:txBody>
      </p:sp>
      <p:sp>
        <p:nvSpPr>
          <p:cNvPr id="3" name="Rounded Rectangle 2"/>
          <p:cNvSpPr/>
          <p:nvPr/>
        </p:nvSpPr>
        <p:spPr>
          <a:xfrm>
            <a:off x="731520" y="1645920"/>
            <a:ext cx="10698480" cy="777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1E3A8A"/>
                </a:solidFill>
              </a:defRPr>
            </a:pPr>
            <a:r>
              <a:t>1. Algorithmic Rigor</a:t>
            </a:r>
          </a:p>
          <a:p>
            <a:pPr>
              <a:spcBef>
                <a:spcPts val="200"/>
              </a:spcBef>
              <a:defRPr sz="1200">
                <a:solidFill>
                  <a:srgbClr val="0F172A"/>
                </a:solidFill>
              </a:defRPr>
            </a:pPr>
            <a:r>
              <a:t>Implement an ensemble Random Forest Classifier with 100 de-correlated estimators using scikit-learn Pipeline and ColumnTransformer architecture.</a:t>
            </a:r>
          </a:p>
        </p:txBody>
      </p:sp>
      <p:sp>
        <p:nvSpPr>
          <p:cNvPr id="4" name="Rounded Rectangle 3"/>
          <p:cNvSpPr/>
          <p:nvPr/>
        </p:nvSpPr>
        <p:spPr>
          <a:xfrm>
            <a:off x="731520" y="2560320"/>
            <a:ext cx="10698480" cy="777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1E3A8A"/>
                </a:solidFill>
              </a:defRPr>
            </a:pPr>
            <a:r>
              <a:t>2. Leak-Free Preprocessing</a:t>
            </a:r>
          </a:p>
          <a:p>
            <a:pPr>
              <a:spcBef>
                <a:spcPts val="200"/>
              </a:spcBef>
              <a:defRPr sz="1200">
                <a:solidFill>
                  <a:srgbClr val="0F172A"/>
                </a:solidFill>
              </a:defRPr>
            </a:pPr>
            <a:r>
              <a:t>Handle numeric and categorical variables through median imputation, standard scaling, and one-hot encoding without data contamination.</a:t>
            </a:r>
          </a:p>
        </p:txBody>
      </p:sp>
      <p:sp>
        <p:nvSpPr>
          <p:cNvPr id="5" name="Rounded Rectangle 4"/>
          <p:cNvSpPr/>
          <p:nvPr/>
        </p:nvSpPr>
        <p:spPr>
          <a:xfrm>
            <a:off x="731520" y="3474720"/>
            <a:ext cx="10698480" cy="777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1E3A8A"/>
                </a:solidFill>
              </a:defRPr>
            </a:pPr>
            <a:r>
              <a:t>3. Empirical Evaluation</a:t>
            </a:r>
          </a:p>
          <a:p>
            <a:pPr>
              <a:spcBef>
                <a:spcPts val="200"/>
              </a:spcBef>
              <a:defRPr sz="1200">
                <a:solidFill>
                  <a:srgbClr val="0F172A"/>
                </a:solidFill>
              </a:defRPr>
            </a:pPr>
            <a:r>
              <a:t>Measure true generalization on an unseen stratified 20% test partition using Accuracy, Macro/Weighted F1, Confusion Matrix, and Gini Feature Importance.</a:t>
            </a:r>
          </a:p>
        </p:txBody>
      </p:sp>
      <p:sp>
        <p:nvSpPr>
          <p:cNvPr id="6" name="Rounded Rectangle 5"/>
          <p:cNvSpPr/>
          <p:nvPr/>
        </p:nvSpPr>
        <p:spPr>
          <a:xfrm>
            <a:off x="731520" y="4389120"/>
            <a:ext cx="10698480" cy="777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1E3A8A"/>
                </a:solidFill>
              </a:defRPr>
            </a:pPr>
            <a:r>
              <a:t>4. Interactive Web System</a:t>
            </a:r>
          </a:p>
          <a:p>
            <a:pPr>
              <a:spcBef>
                <a:spcPts val="200"/>
              </a:spcBef>
              <a:defRPr sz="1200">
                <a:solidFill>
                  <a:srgbClr val="0F172A"/>
                </a:solidFill>
              </a:defRPr>
            </a:pPr>
            <a:r>
              <a:t>Deliver a responsive Streamlit analytical dashboard featuring real-time inference, class probability calibration, and pedagogical feedback.</a:t>
            </a:r>
          </a:p>
        </p:txBody>
      </p:sp>
      <p:sp>
        <p:nvSpPr>
          <p:cNvPr id="7" name="Rounded Rectangle 6"/>
          <p:cNvSpPr/>
          <p:nvPr/>
        </p:nvSpPr>
        <p:spPr>
          <a:xfrm>
            <a:off x="731520" y="5303520"/>
            <a:ext cx="10698480" cy="77724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400" b="1">
                <a:solidFill>
                  <a:srgbClr val="1E3A8A"/>
                </a:solidFill>
              </a:defRPr>
            </a:pPr>
            <a:r>
              <a:t>5. Responsible AI Guardrails</a:t>
            </a:r>
          </a:p>
          <a:p>
            <a:pPr>
              <a:spcBef>
                <a:spcPts val="200"/>
              </a:spcBef>
              <a:defRPr sz="1200">
                <a:solidFill>
                  <a:srgbClr val="0F172A"/>
                </a:solidFill>
              </a:defRPr>
            </a:pPr>
            <a:r>
              <a:t>Enforce ethical AI constraints: probabilistic confidence reporting, contextual recommendations, and explicit warnings against automated punitive 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Dataset Description &amp; Feature Taxonomy</a:t>
            </a:r>
          </a:p>
        </p:txBody>
      </p:sp>
      <p:sp>
        <p:nvSpPr>
          <p:cNvPr id="3" name="TextBox 2"/>
          <p:cNvSpPr txBox="1"/>
          <p:nvPr/>
        </p:nvSpPr>
        <p:spPr>
          <a:xfrm>
            <a:off x="731520" y="1554480"/>
            <a:ext cx="10698480" cy="4754880"/>
          </a:xfrm>
          <a:prstGeom prst="rect">
            <a:avLst/>
          </a:prstGeom>
          <a:noFill/>
        </p:spPr>
        <p:txBody>
          <a:bodyPr wrap="square">
            <a:spAutoFit/>
          </a:bodyPr>
          <a:lstStyle/>
          <a:p>
            <a:pPr>
              <a:defRPr sz="1600" b="1">
                <a:solidFill>
                  <a:srgbClr val="1E3A8A"/>
                </a:solidFill>
              </a:defRPr>
            </a:pPr>
            <a:r>
              <a:t>Dataset Origin: UCI Machine Learning Repository (Cortez &amp; Silva, 2008)</a:t>
            </a:r>
          </a:p>
          <a:p>
            <a:pPr>
              <a:spcBef>
                <a:spcPts val="400"/>
              </a:spcBef>
              <a:defRPr sz="1300">
                <a:solidFill>
                  <a:srgbClr val="0F172A"/>
                </a:solidFill>
              </a:defRPr>
            </a:pPr>
            <a:r>
              <a:t>Contains 395 secondary student records from the Alentejo region of Portugal with 33 original attributes across 4 core feature domains:</a:t>
            </a:r>
          </a:p>
          <a:p>
            <a:pPr>
              <a:spcBef>
                <a:spcPts val="1000"/>
              </a:spcBef>
              <a:defRPr sz="1300" b="1">
                <a:solidFill>
                  <a:srgbClr val="2563EB"/>
                </a:solidFill>
              </a:defRPr>
            </a:pPr>
            <a:r>
              <a:t>• Academic &amp; Diagnostic Factors (Key Drivers): </a:t>
            </a:r>
          </a:p>
          <a:p>
            <a:pPr>
              <a:spcBef>
                <a:spcPts val="200"/>
              </a:spcBef>
              <a:defRPr sz="1200">
                <a:solidFill>
                  <a:srgbClr val="0F172A"/>
                </a:solidFill>
              </a:defRPr>
            </a:pPr>
            <a:r>
              <a:t>   G1 (Period 1 Grade, 0-20), failures (past course failures 0-4), studytime (weekly study hours), schoolsup (extra remedial support), paid (extra paid tutoring)</a:t>
            </a:r>
          </a:p>
          <a:p>
            <a:pPr>
              <a:spcBef>
                <a:spcPts val="1000"/>
              </a:spcBef>
              <a:defRPr sz="1300" b="1">
                <a:solidFill>
                  <a:srgbClr val="2563EB"/>
                </a:solidFill>
              </a:defRPr>
            </a:pPr>
            <a:r>
              <a:t>• Institutional Engagement &amp; Attendance: </a:t>
            </a:r>
          </a:p>
          <a:p>
            <a:pPr>
              <a:spcBef>
                <a:spcPts val="200"/>
              </a:spcBef>
              <a:defRPr sz="1200">
                <a:solidFill>
                  <a:srgbClr val="0F172A"/>
                </a:solidFill>
              </a:defRPr>
            </a:pPr>
            <a:r>
              <a:t>   absences (recorded absences 0-93), higher (desire for higher education), traveltime (home-to-school transit), reason (school choice reason)</a:t>
            </a:r>
          </a:p>
          <a:p>
            <a:pPr>
              <a:spcBef>
                <a:spcPts val="1000"/>
              </a:spcBef>
              <a:defRPr sz="1300" b="1">
                <a:solidFill>
                  <a:srgbClr val="2563EB"/>
                </a:solidFill>
              </a:defRPr>
            </a:pPr>
            <a:r>
              <a:t>• Family Background &amp; Socio-Economics: </a:t>
            </a:r>
          </a:p>
          <a:p>
            <a:pPr>
              <a:spcBef>
                <a:spcPts val="200"/>
              </a:spcBef>
              <a:defRPr sz="1200">
                <a:solidFill>
                  <a:srgbClr val="0F172A"/>
                </a:solidFill>
              </a:defRPr>
            </a:pPr>
            <a:r>
              <a:t>   Medu / Fedu (Mother/Father education levels 0-4), Mjob / Fjob (Parental occupations), famsize (family size), Pstatus (parent cohabitation), famrel (relationship quality)</a:t>
            </a:r>
          </a:p>
          <a:p>
            <a:pPr>
              <a:spcBef>
                <a:spcPts val="1000"/>
              </a:spcBef>
              <a:defRPr sz="1300" b="1">
                <a:solidFill>
                  <a:srgbClr val="2563EB"/>
                </a:solidFill>
              </a:defRPr>
            </a:pPr>
            <a:r>
              <a:t>• Social, Health &amp; Lifestyle Variables: </a:t>
            </a:r>
          </a:p>
          <a:p>
            <a:pPr>
              <a:spcBef>
                <a:spcPts val="200"/>
              </a:spcBef>
              <a:defRPr sz="1200">
                <a:solidFill>
                  <a:srgbClr val="0F172A"/>
                </a:solidFill>
              </a:defRPr>
            </a:pPr>
            <a:r>
              <a:t>   goout (socializing frequency 1-5), freetime (after-school free time 1-5), Dalc / Walc (workday/weekend alcohol consumption 1-5), health (current health status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Proposed System Workflow Architecture</a:t>
            </a:r>
          </a:p>
        </p:txBody>
      </p:sp>
      <p:pic>
        <p:nvPicPr>
          <p:cNvPr id="3" name="Picture 2" descr="system_architecture.png"/>
          <p:cNvPicPr>
            <a:picLocks noChangeAspect="1"/>
          </p:cNvPicPr>
          <p:nvPr/>
        </p:nvPicPr>
        <p:blipFill>
          <a:blip r:embed="rId2"/>
          <a:stretch>
            <a:fillRect/>
          </a:stretch>
        </p:blipFill>
        <p:spPr>
          <a:xfrm>
            <a:off x="731520" y="1645920"/>
            <a:ext cx="10698480" cy="507907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Primary Algorithm: Random Forest Classifier</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b="1">
                <a:solidFill>
                  <a:srgbClr val="1E3A8A"/>
                </a:solidFill>
              </a:defRPr>
            </a:pPr>
            <a:r>
              <a:t>Why Random Forest for Student Performance Analytics?</a:t>
            </a:r>
          </a:p>
          <a:p>
            <a:pPr>
              <a:spcBef>
                <a:spcPts val="800"/>
              </a:spcBef>
              <a:defRPr sz="1300" b="1">
                <a:solidFill>
                  <a:srgbClr val="2563EB"/>
                </a:solidFill>
              </a:defRPr>
            </a:pPr>
            <a:r>
              <a:t>• 1. Ensemble Bagging (Bootstrap Aggregation): </a:t>
            </a:r>
          </a:p>
          <a:p>
            <a:pPr>
              <a:spcBef>
                <a:spcPts val="200"/>
              </a:spcBef>
              <a:defRPr sz="1200">
                <a:solidFill>
                  <a:srgbClr val="0F172A"/>
                </a:solidFill>
              </a:defRPr>
            </a:pPr>
            <a:r>
              <a:t>   Builds 100 decision trees trained on independent bootstrap samples. Aggregates predictions via majority voting: H(x) = argmax sum(h_i(x)). Substantially reduces prediction variance compared to single trees.</a:t>
            </a:r>
          </a:p>
          <a:p>
            <a:pPr>
              <a:spcBef>
                <a:spcPts val="800"/>
              </a:spcBef>
              <a:defRPr sz="1300" b="1">
                <a:solidFill>
                  <a:srgbClr val="2563EB"/>
                </a:solidFill>
              </a:defRPr>
            </a:pPr>
            <a:r>
              <a:t>• 2. Random Subspace Feature Selection: </a:t>
            </a:r>
          </a:p>
          <a:p>
            <a:pPr>
              <a:spcBef>
                <a:spcPts val="200"/>
              </a:spcBef>
              <a:defRPr sz="1200">
                <a:solidFill>
                  <a:srgbClr val="0F172A"/>
                </a:solidFill>
              </a:defRPr>
            </a:pPr>
            <a:r>
              <a:t>   At each candidate node split, evaluates only a random subset of sqrt(p) features. De-correlates individual trees, preventing dominant features (like G1) from monopolizing every decision path.</a:t>
            </a:r>
          </a:p>
          <a:p>
            <a:pPr>
              <a:spcBef>
                <a:spcPts val="800"/>
              </a:spcBef>
              <a:defRPr sz="1300" b="1">
                <a:solidFill>
                  <a:srgbClr val="2563EB"/>
                </a:solidFill>
              </a:defRPr>
            </a:pPr>
            <a:r>
              <a:t>• 3. Non-Linear Feature Interactions: </a:t>
            </a:r>
          </a:p>
          <a:p>
            <a:pPr>
              <a:spcBef>
                <a:spcPts val="200"/>
              </a:spcBef>
              <a:defRPr sz="1200">
                <a:solidFill>
                  <a:srgbClr val="0F172A"/>
                </a:solidFill>
              </a:defRPr>
            </a:pPr>
            <a:r>
              <a:t>   Seamlessly captures complex interaction effects (e.g., high study time moderating the impact of high absenteeism) without requiring manual interaction terms.</a:t>
            </a:r>
          </a:p>
          <a:p>
            <a:pPr>
              <a:spcBef>
                <a:spcPts val="800"/>
              </a:spcBef>
              <a:defRPr sz="1300" b="1">
                <a:solidFill>
                  <a:srgbClr val="2563EB"/>
                </a:solidFill>
              </a:defRPr>
            </a:pPr>
            <a:r>
              <a:t>• 4. Built-in Gini Impurity Metric: </a:t>
            </a:r>
          </a:p>
          <a:p>
            <a:pPr>
              <a:spcBef>
                <a:spcPts val="200"/>
              </a:spcBef>
              <a:defRPr sz="1200">
                <a:solidFill>
                  <a:srgbClr val="0F172A"/>
                </a:solidFill>
              </a:defRPr>
            </a:pPr>
            <a:r>
              <a:t>   Node splitting maximizes Gini gain: Delta I(tau) = I(tau) - [ (N_L/N)I(tau_L) + (N_R/N)I(tau_R) ], yielding transparent, mathematically grounded feature importances.</a:t>
            </a:r>
          </a:p>
          <a:p>
            <a:pPr>
              <a:spcBef>
                <a:spcPts val="800"/>
              </a:spcBef>
              <a:defRPr sz="1300" b="1">
                <a:solidFill>
                  <a:srgbClr val="2563EB"/>
                </a:solidFill>
              </a:defRPr>
            </a:pPr>
            <a:r>
              <a:t>• 5. Robustness to Overfitting &amp; Multicollinearity: </a:t>
            </a:r>
          </a:p>
          <a:p>
            <a:pPr>
              <a:spcBef>
                <a:spcPts val="200"/>
              </a:spcBef>
              <a:defRPr sz="1200">
                <a:solidFill>
                  <a:srgbClr val="0F172A"/>
                </a:solidFill>
              </a:defRPr>
            </a:pPr>
            <a:r>
              <a:t>   Hyperparameter tuning with max_depth=6 and min_samples_split=4 limits individual tree over-specialization on educational noise.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Web Application &amp; User Interface Design</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b="1">
                <a:solidFill>
                  <a:srgbClr val="1E3A8A"/>
                </a:solidFill>
              </a:defRPr>
            </a:pPr>
            <a:r>
              <a:t>Streamlit Analytical Dashboard Architecture:</a:t>
            </a:r>
          </a:p>
          <a:p>
            <a:pPr>
              <a:spcBef>
                <a:spcPts val="1000"/>
              </a:spcBef>
              <a:defRPr sz="1300" b="1">
                <a:solidFill>
                  <a:srgbClr val="2563EB"/>
                </a:solidFill>
              </a:defRPr>
            </a:pPr>
            <a:r>
              <a:t>• Page 1: Project Overview &amp; Executive Summary</a:t>
            </a:r>
          </a:p>
          <a:p>
            <a:pPr>
              <a:spcBef>
                <a:spcPts val="200"/>
              </a:spcBef>
              <a:defRPr sz="1200">
                <a:solidFill>
                  <a:srgbClr val="0F172A"/>
                </a:solidFill>
              </a:defRPr>
            </a:pPr>
            <a:r>
              <a:t>   High-level metric cards, executive problem context, architectural flowchart, and prominent Responsible AI warning banner.</a:t>
            </a:r>
          </a:p>
          <a:p>
            <a:pPr>
              <a:spcBef>
                <a:spcPts val="1000"/>
              </a:spcBef>
              <a:defRPr sz="1300" b="1">
                <a:solidFill>
                  <a:srgbClr val="2563EB"/>
                </a:solidFill>
              </a:defRPr>
            </a:pPr>
            <a:r>
              <a:t>• Page 2: Interactive Student Performance Predictor</a:t>
            </a:r>
          </a:p>
          <a:p>
            <a:pPr>
              <a:spcBef>
                <a:spcPts val="200"/>
              </a:spcBef>
              <a:defRPr sz="1200">
                <a:solidFill>
                  <a:srgbClr val="0F172A"/>
                </a:solidFill>
              </a:defRPr>
            </a:pPr>
            <a:r>
              <a:t>   Form with validated sliders and select boxes, 1-click demonstration profile presets, calibrated class probabilities, and tailored pedagogical recommendations.</a:t>
            </a:r>
          </a:p>
          <a:p>
            <a:pPr>
              <a:spcBef>
                <a:spcPts val="1000"/>
              </a:spcBef>
              <a:defRPr sz="1300" b="1">
                <a:solidFill>
                  <a:srgbClr val="2563EB"/>
                </a:solidFill>
              </a:defRPr>
            </a:pPr>
            <a:r>
              <a:t>• Page 3: Dataset Explorer &amp; Visual Analytics</a:t>
            </a:r>
          </a:p>
          <a:p>
            <a:pPr>
              <a:spcBef>
                <a:spcPts val="200"/>
              </a:spcBef>
              <a:defRPr sz="1200">
                <a:solidFill>
                  <a:srgbClr val="0F172A"/>
                </a:solidFill>
              </a:defRPr>
            </a:pPr>
            <a:r>
              <a:t>   Tabular views of the raw UCI dataset, summary statistics, missing-value audits, and dynamic distribution histograms.</a:t>
            </a:r>
          </a:p>
          <a:p>
            <a:pPr>
              <a:spcBef>
                <a:spcPts val="1000"/>
              </a:spcBef>
              <a:defRPr sz="1300" b="1">
                <a:solidFill>
                  <a:srgbClr val="2563EB"/>
                </a:solidFill>
              </a:defRPr>
            </a:pPr>
            <a:r>
              <a:t>• Page 4: Empirical Model Evaluation Dashboard</a:t>
            </a:r>
          </a:p>
          <a:p>
            <a:pPr>
              <a:spcBef>
                <a:spcPts val="200"/>
              </a:spcBef>
              <a:defRPr sz="1200">
                <a:solidFill>
                  <a:srgbClr val="0F172A"/>
                </a:solidFill>
              </a:defRPr>
            </a:pPr>
            <a:r>
              <a:t>   Interactive displays of true confusion matrix, classification reports, feature importance rankings, and comparative baseline benchmarks.</a:t>
            </a:r>
          </a:p>
          <a:p>
            <a:pPr>
              <a:spcBef>
                <a:spcPts val="1000"/>
              </a:spcBef>
              <a:defRPr sz="1300" b="1">
                <a:solidFill>
                  <a:srgbClr val="2563EB"/>
                </a:solidFill>
              </a:defRPr>
            </a:pPr>
            <a:r>
              <a:t>• Page 5: Project Documentation &amp; Ethics Guide</a:t>
            </a:r>
          </a:p>
          <a:p>
            <a:pPr>
              <a:spcBef>
                <a:spcPts val="200"/>
              </a:spcBef>
              <a:defRPr sz="1200">
                <a:solidFill>
                  <a:srgbClr val="0F172A"/>
                </a:solidFill>
              </a:defRPr>
            </a:pPr>
            <a:r>
              <a:t>   Detailed documentation of methodologies, data leakage boundaries, and ethical guidelines.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Empirical Results &amp; Quantitative Evaluation</a:t>
            </a:r>
          </a:p>
        </p:txBody>
      </p:sp>
      <p:pic>
        <p:nvPicPr>
          <p:cNvPr id="3" name="Picture 2" descr="confusion_matrix.png"/>
          <p:cNvPicPr>
            <a:picLocks noChangeAspect="1"/>
          </p:cNvPicPr>
          <p:nvPr/>
        </p:nvPicPr>
        <p:blipFill>
          <a:blip r:embed="rId2"/>
          <a:stretch>
            <a:fillRect/>
          </a:stretch>
        </p:blipFill>
        <p:spPr>
          <a:xfrm>
            <a:off x="731520" y="1645920"/>
            <a:ext cx="5029200" cy="4199641"/>
          </a:xfrm>
          <a:prstGeom prst="rect">
            <a:avLst/>
          </a:prstGeom>
        </p:spPr>
      </p:pic>
      <p:sp>
        <p:nvSpPr>
          <p:cNvPr id="4" name="TextBox 3"/>
          <p:cNvSpPr txBox="1"/>
          <p:nvPr/>
        </p:nvSpPr>
        <p:spPr>
          <a:xfrm>
            <a:off x="6035040" y="1645920"/>
            <a:ext cx="5394960" cy="4572000"/>
          </a:xfrm>
          <a:prstGeom prst="rect">
            <a:avLst/>
          </a:prstGeom>
          <a:noFill/>
        </p:spPr>
        <p:txBody>
          <a:bodyPr wrap="square">
            <a:spAutoFit/>
          </a:bodyPr>
          <a:lstStyle/>
          <a:p>
            <a:pPr>
              <a:defRPr sz="1800" b="1">
                <a:solidFill>
                  <a:srgbClr val="1E3A8A"/>
                </a:solidFill>
              </a:defRPr>
            </a:pPr>
            <a:r>
              <a:t>Performance on Unseen Test Data (N=79):</a:t>
            </a:r>
          </a:p>
          <a:p>
            <a:pPr>
              <a:spcBef>
                <a:spcPts val="800"/>
              </a:spcBef>
              <a:defRPr sz="1300" b="1">
                <a:solidFill>
                  <a:srgbClr val="2563EB"/>
                </a:solidFill>
              </a:defRPr>
            </a:pPr>
            <a:r>
              <a:t>• Overall Test Accuracy: </a:t>
            </a:r>
          </a:p>
          <a:p>
            <a:pPr>
              <a:spcBef>
                <a:spcPts val="100"/>
              </a:spcBef>
              <a:defRPr sz="1200">
                <a:solidFill>
                  <a:srgbClr val="0F172A"/>
                </a:solidFill>
              </a:defRPr>
            </a:pPr>
            <a:r>
              <a:t>   67.09% (vs. Baseline 41.77%, +25.32% improvement)</a:t>
            </a:r>
          </a:p>
          <a:p>
            <a:pPr>
              <a:spcBef>
                <a:spcPts val="800"/>
              </a:spcBef>
              <a:defRPr sz="1300" b="1">
                <a:solidFill>
                  <a:srgbClr val="2563EB"/>
                </a:solidFill>
              </a:defRPr>
            </a:pPr>
            <a:r>
              <a:t>• Macro F1-Score: </a:t>
            </a:r>
          </a:p>
          <a:p>
            <a:pPr>
              <a:spcBef>
                <a:spcPts val="100"/>
              </a:spcBef>
              <a:defRPr sz="1200">
                <a:solidFill>
                  <a:srgbClr val="0F172A"/>
                </a:solidFill>
              </a:defRPr>
            </a:pPr>
            <a:r>
              <a:t>   0.6845 (unweighted balance across all 3 tiers)</a:t>
            </a:r>
          </a:p>
          <a:p>
            <a:pPr>
              <a:spcBef>
                <a:spcPts val="800"/>
              </a:spcBef>
              <a:defRPr sz="1300" b="1">
                <a:solidFill>
                  <a:srgbClr val="2563EB"/>
                </a:solidFill>
              </a:defRPr>
            </a:pPr>
            <a:r>
              <a:t>• Weighted F1-Score: </a:t>
            </a:r>
          </a:p>
          <a:p>
            <a:pPr>
              <a:spcBef>
                <a:spcPts val="100"/>
              </a:spcBef>
              <a:defRPr sz="1200">
                <a:solidFill>
                  <a:srgbClr val="0F172A"/>
                </a:solidFill>
              </a:defRPr>
            </a:pPr>
            <a:r>
              <a:t>   0.6724 (sample-proportional performance)</a:t>
            </a:r>
          </a:p>
          <a:p>
            <a:pPr>
              <a:spcBef>
                <a:spcPts val="800"/>
              </a:spcBef>
              <a:defRPr sz="1300" b="1">
                <a:solidFill>
                  <a:srgbClr val="2563EB"/>
                </a:solidFill>
              </a:defRPr>
            </a:pPr>
            <a:r>
              <a:t>• High Performer Precision: </a:t>
            </a:r>
          </a:p>
          <a:p>
            <a:pPr>
              <a:spcBef>
                <a:spcPts val="100"/>
              </a:spcBef>
              <a:defRPr sz="1200">
                <a:solidFill>
                  <a:srgbClr val="0F172A"/>
                </a:solidFill>
              </a:defRPr>
            </a:pPr>
            <a:r>
              <a:t>   82.6% (19 out of 23 correctly identified)</a:t>
            </a:r>
          </a:p>
          <a:p>
            <a:pPr>
              <a:spcBef>
                <a:spcPts val="800"/>
              </a:spcBef>
              <a:defRPr sz="1300" b="1">
                <a:solidFill>
                  <a:srgbClr val="2563EB"/>
                </a:solidFill>
              </a:defRPr>
            </a:pPr>
            <a:r>
              <a:t>• High Performer Recall: </a:t>
            </a:r>
          </a:p>
          <a:p>
            <a:pPr>
              <a:spcBef>
                <a:spcPts val="100"/>
              </a:spcBef>
              <a:defRPr sz="1200">
                <a:solidFill>
                  <a:srgbClr val="0F172A"/>
                </a:solidFill>
              </a:defRPr>
            </a:pPr>
            <a:r>
              <a:t>   75.0% (15 out of 20 correctly retrieved)</a:t>
            </a:r>
          </a:p>
          <a:p>
            <a:pPr>
              <a:spcBef>
                <a:spcPts val="800"/>
              </a:spcBef>
              <a:defRPr sz="1300" b="1">
                <a:solidFill>
                  <a:srgbClr val="2563EB"/>
                </a:solidFill>
              </a:defRPr>
            </a:pPr>
            <a:r>
              <a:t>• Low / At-Risk Recall: </a:t>
            </a:r>
          </a:p>
          <a:p>
            <a:pPr>
              <a:spcBef>
                <a:spcPts val="100"/>
              </a:spcBef>
              <a:defRPr sz="1200">
                <a:solidFill>
                  <a:srgbClr val="0F172A"/>
                </a:solidFill>
              </a:defRPr>
            </a:pPr>
            <a:r>
              <a:t>   57.7% (15 out of 26 true at-risk cases caught)</a:t>
            </a:r>
          </a:p>
          <a:p>
            <a:pPr>
              <a:spcBef>
                <a:spcPts val="800"/>
              </a:spcBef>
              <a:defRPr sz="1300" b="1">
                <a:solidFill>
                  <a:srgbClr val="2563EB"/>
                </a:solidFill>
              </a:defRPr>
            </a:pPr>
            <a:r>
              <a:t>• Medium Tier F1-Score: </a:t>
            </a:r>
          </a:p>
          <a:p>
            <a:pPr>
              <a:spcBef>
                <a:spcPts val="100"/>
              </a:spcBef>
              <a:defRPr sz="1200">
                <a:solidFill>
                  <a:srgbClr val="0F172A"/>
                </a:solidFill>
              </a:defRPr>
            </a:pPr>
            <a:r>
              <a:t>   0.639 (23 out of 33 correct classifications)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Feature Importance &amp; Benchmark Comparison</a:t>
            </a:r>
          </a:p>
        </p:txBody>
      </p:sp>
      <p:pic>
        <p:nvPicPr>
          <p:cNvPr id="3" name="Picture 2" descr="feature_importance.png"/>
          <p:cNvPicPr>
            <a:picLocks noChangeAspect="1"/>
          </p:cNvPicPr>
          <p:nvPr/>
        </p:nvPicPr>
        <p:blipFill>
          <a:blip r:embed="rId2"/>
          <a:stretch>
            <a:fillRect/>
          </a:stretch>
        </p:blipFill>
        <p:spPr>
          <a:xfrm>
            <a:off x="731520" y="1645920"/>
            <a:ext cx="5212080" cy="3559684"/>
          </a:xfrm>
          <a:prstGeom prst="rect">
            <a:avLst/>
          </a:prstGeom>
        </p:spPr>
      </p:pic>
      <p:pic>
        <p:nvPicPr>
          <p:cNvPr id="4" name="Picture 3" descr="model_comparison.png"/>
          <p:cNvPicPr>
            <a:picLocks noChangeAspect="1"/>
          </p:cNvPicPr>
          <p:nvPr/>
        </p:nvPicPr>
        <p:blipFill>
          <a:blip r:embed="rId3"/>
          <a:stretch>
            <a:fillRect/>
          </a:stretch>
        </p:blipFill>
        <p:spPr>
          <a:xfrm>
            <a:off x="6217920" y="1645920"/>
            <a:ext cx="5212080" cy="33220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Ethical AI Considerations &amp; Limitations</a:t>
            </a:r>
          </a:p>
        </p:txBody>
      </p:sp>
      <p:sp>
        <p:nvSpPr>
          <p:cNvPr id="3" name="TextBox 2"/>
          <p:cNvSpPr txBox="1"/>
          <p:nvPr/>
        </p:nvSpPr>
        <p:spPr>
          <a:xfrm>
            <a:off x="731520" y="1645920"/>
            <a:ext cx="10698480" cy="4572000"/>
          </a:xfrm>
          <a:prstGeom prst="rect">
            <a:avLst/>
          </a:prstGeom>
          <a:noFill/>
        </p:spPr>
        <p:txBody>
          <a:bodyPr wrap="square">
            <a:spAutoFit/>
          </a:bodyPr>
          <a:lstStyle/>
          <a:p>
            <a:pPr>
              <a:defRPr sz="1800" b="1">
                <a:solidFill>
                  <a:srgbClr val="1E3A8A"/>
                </a:solidFill>
              </a:defRPr>
            </a:pPr>
            <a:r>
              <a:t>Responsible AI Principles in Educational Analytics:</a:t>
            </a:r>
          </a:p>
          <a:p>
            <a:pPr>
              <a:spcBef>
                <a:spcPts val="1000"/>
              </a:spcBef>
              <a:defRPr sz="1300" b="1">
                <a:solidFill>
                  <a:srgbClr val="2563EB"/>
                </a:solidFill>
              </a:defRPr>
            </a:pPr>
            <a:r>
              <a:t>• 1. Human-in-the-Loop Governance: </a:t>
            </a:r>
          </a:p>
          <a:p>
            <a:pPr>
              <a:spcBef>
                <a:spcPts val="200"/>
              </a:spcBef>
              <a:defRPr sz="1200">
                <a:solidFill>
                  <a:srgbClr val="0F172A"/>
                </a:solidFill>
              </a:defRPr>
            </a:pPr>
            <a:r>
              <a:t>   The tool is engineered strictly as an advisory decision-support system. Algorithmic outputs must never be used to automate punitive disciplinary actions, academic tracking, or course exclusion.</a:t>
            </a:r>
          </a:p>
          <a:p>
            <a:pPr>
              <a:spcBef>
                <a:spcPts val="1000"/>
              </a:spcBef>
              <a:defRPr sz="1300" b="1">
                <a:solidFill>
                  <a:srgbClr val="2563EB"/>
                </a:solidFill>
              </a:defRPr>
            </a:pPr>
            <a:r>
              <a:t>• 2. Probabilistic Humility: </a:t>
            </a:r>
          </a:p>
          <a:p>
            <a:pPr>
              <a:spcBef>
                <a:spcPts val="200"/>
              </a:spcBef>
              <a:defRPr sz="1200">
                <a:solidFill>
                  <a:srgbClr val="0F172A"/>
                </a:solidFill>
              </a:defRPr>
            </a:pPr>
            <a:r>
              <a:t>   All predictions are accompanied by calibrated class probability distributions and explicit disclaimers acknowledging statistical uncertainty.</a:t>
            </a:r>
          </a:p>
          <a:p>
            <a:pPr>
              <a:spcBef>
                <a:spcPts val="1000"/>
              </a:spcBef>
              <a:defRPr sz="1300" b="1">
                <a:solidFill>
                  <a:srgbClr val="2563EB"/>
                </a:solidFill>
              </a:defRPr>
            </a:pPr>
            <a:r>
              <a:t>• 3. Socio-Economic Bias Awareness: </a:t>
            </a:r>
          </a:p>
          <a:p>
            <a:pPr>
              <a:spcBef>
                <a:spcPts val="200"/>
              </a:spcBef>
              <a:defRPr sz="1200">
                <a:solidFill>
                  <a:srgbClr val="0F172A"/>
                </a:solidFill>
              </a:defRPr>
            </a:pPr>
            <a:r>
              <a:t>   Models trained on historical data risk reinforcing systemic disparities (e.g., lower parental education or rural address). Educators must interpret outputs holistically.</a:t>
            </a:r>
          </a:p>
          <a:p>
            <a:pPr>
              <a:spcBef>
                <a:spcPts val="1000"/>
              </a:spcBef>
              <a:defRPr sz="1300" b="1">
                <a:solidFill>
                  <a:srgbClr val="2563EB"/>
                </a:solidFill>
              </a:defRPr>
            </a:pPr>
            <a:r>
              <a:t>• 4. Dataset Scale Limitations: </a:t>
            </a:r>
          </a:p>
          <a:p>
            <a:pPr>
              <a:spcBef>
                <a:spcPts val="200"/>
              </a:spcBef>
              <a:defRPr sz="1200">
                <a:solidFill>
                  <a:srgbClr val="0F172A"/>
                </a:solidFill>
              </a:defRPr>
            </a:pPr>
            <a:r>
              <a:t>   The benchmark dataset consists of 395 Portuguese students. Generalizing to different curricula, grading schemes, or international contexts requires localized retraining and recalibration.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FUNDAMENTALS OF ARTIFICIAL INTELLIGENCE</a:t>
            </a:r>
          </a:p>
          <a:p>
            <a:pPr>
              <a:spcBef>
                <a:spcPts val="400"/>
              </a:spcBef>
              <a:defRPr sz="2400" b="1">
                <a:solidFill>
                  <a:srgbClr val="1E3A8A"/>
                </a:solidFill>
              </a:defRPr>
            </a:pPr>
            <a:r>
              <a:t>Conclusions &amp; Academic References</a:t>
            </a:r>
          </a:p>
        </p:txBody>
      </p:sp>
      <p:sp>
        <p:nvSpPr>
          <p:cNvPr id="3" name="TextBox 2"/>
          <p:cNvSpPr txBox="1"/>
          <p:nvPr/>
        </p:nvSpPr>
        <p:spPr>
          <a:xfrm>
            <a:off x="731520" y="1645920"/>
            <a:ext cx="10698480" cy="4572000"/>
          </a:xfrm>
          <a:prstGeom prst="rect">
            <a:avLst/>
          </a:prstGeom>
          <a:noFill/>
        </p:spPr>
        <p:txBody>
          <a:bodyPr wrap="square">
            <a:spAutoFit/>
          </a:bodyPr>
          <a:lstStyle/>
          <a:p>
            <a:pPr>
              <a:defRPr sz="1700" b="1">
                <a:solidFill>
                  <a:srgbClr val="1E3A8A"/>
                </a:solidFill>
              </a:defRPr>
            </a:pPr>
            <a:r>
              <a:t>Summary of Key Project Achievements:</a:t>
            </a:r>
          </a:p>
          <a:p>
            <a:pPr>
              <a:spcBef>
                <a:spcPts val="400"/>
              </a:spcBef>
              <a:defRPr sz="1250">
                <a:solidFill>
                  <a:srgbClr val="0F172A"/>
                </a:solidFill>
              </a:defRPr>
            </a:pPr>
            <a:r>
              <a:t>• Successfully developed and validated a Random Forest Classifier for 3-tier student performance prediction.</a:t>
            </a:r>
          </a:p>
          <a:p>
            <a:pPr>
              <a:spcBef>
                <a:spcPts val="400"/>
              </a:spcBef>
              <a:defRPr sz="1250">
                <a:solidFill>
                  <a:srgbClr val="0F172A"/>
                </a:solidFill>
              </a:defRPr>
            </a:pPr>
            <a:r>
              <a:t>• Achieved 67.1% test accuracy and 0.685 Macro F1, outperforming baseline majority classification by +25.3%.</a:t>
            </a:r>
          </a:p>
          <a:p>
            <a:pPr>
              <a:spcBef>
                <a:spcPts val="400"/>
              </a:spcBef>
              <a:defRPr sz="1250">
                <a:solidFill>
                  <a:srgbClr val="0F172A"/>
                </a:solidFill>
              </a:defRPr>
            </a:pPr>
            <a:r>
              <a:t>• Enforced strict leak-free feature engineering, ensuring real-world viability for early academic interventions.</a:t>
            </a:r>
          </a:p>
          <a:p>
            <a:pPr>
              <a:spcBef>
                <a:spcPts val="400"/>
              </a:spcBef>
              <a:defRPr sz="1250">
                <a:solidFill>
                  <a:srgbClr val="0F172A"/>
                </a:solidFill>
              </a:defRPr>
            </a:pPr>
            <a:r>
              <a:t>• Deployed an interactive, user-friendly Streamlit analytical dashboard with real-time inference and recommendations.</a:t>
            </a:r>
          </a:p>
          <a:p>
            <a:pPr>
              <a:spcBef>
                <a:spcPts val="1600"/>
              </a:spcBef>
              <a:defRPr sz="1700" b="1">
                <a:solidFill>
                  <a:srgbClr val="2563EB"/>
                </a:solidFill>
              </a:defRPr>
            </a:pPr>
            <a:r>
              <a:t>Academic References:</a:t>
            </a:r>
          </a:p>
          <a:p>
            <a:pPr>
              <a:spcBef>
                <a:spcPts val="400"/>
              </a:spcBef>
              <a:defRPr sz="1100">
                <a:solidFill>
                  <a:srgbClr val="475569"/>
                </a:solidFill>
              </a:defRPr>
            </a:pPr>
            <a:r>
              <a:t>[1] Cortez, P., &amp; Silva, A. M. G. (2008). Using data mining to predict secondary school student performance. In Proceedings of 5th Annual Future Business Technology Conference (pp. 5-12).</a:t>
            </a:r>
          </a:p>
          <a:p>
            <a:pPr>
              <a:spcBef>
                <a:spcPts val="400"/>
              </a:spcBef>
              <a:defRPr sz="1100">
                <a:solidFill>
                  <a:srgbClr val="475569"/>
                </a:solidFill>
              </a:defRPr>
            </a:pPr>
            <a:r>
              <a:t>[2] Breiman, L. (2001). Random Forests. Machine Learning, 45(1), 5-32.</a:t>
            </a:r>
          </a:p>
          <a:p>
            <a:pPr>
              <a:spcBef>
                <a:spcPts val="400"/>
              </a:spcBef>
              <a:defRPr sz="1100">
                <a:solidFill>
                  <a:srgbClr val="475569"/>
                </a:solidFill>
              </a:defRPr>
            </a:pPr>
            <a:r>
              <a:t>[3] Pedregosa, F., et al. (2011). Scikit-learn: Machine Learning in Python. Journal of Machine Learning Research, 12, 2825-2830.</a:t>
            </a:r>
          </a:p>
          <a:p>
            <a:pPr>
              <a:spcBef>
                <a:spcPts val="400"/>
              </a:spcBef>
              <a:defRPr sz="1100">
                <a:solidFill>
                  <a:srgbClr val="475569"/>
                </a:solidFill>
              </a:defRPr>
            </a:pPr>
            <a:r>
              <a:t>[4] Romero, C., &amp; Ventura, S. (2010). Educational data mining: a review of the state of the art. IEEE Transactions on Systems, Man, and Cybernetics, 40(6), 601-618.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